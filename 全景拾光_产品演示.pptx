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2103120"/>
            <a:ext cx="5852160" cy="5852160"/>
          </a:xfrm>
          <a:prstGeom prst="ellipse">
            <a:avLst/>
          </a:prstGeom>
          <a:noFill/>
          <a:ln w="1524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5120640"/>
            <a:ext cx="128016" cy="128016"/>
          </a:xfrm>
          <a:prstGeom prst="ellips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852160"/>
            <a:ext cx="64008" cy="64008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INSTA360 × SOLODIRECTOR · AI 影像创新赛道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 spc="60">
                <a:solidFill>
                  <a:srgbClr val="F5F5F7"/>
                </a:solidFill>
                <a:latin typeface="PingFang SC"/>
                <a:ea typeface="PingFang SC"/>
              </a:rPr>
              <a:t>全景拾光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F5F5F7"/>
                </a:solidFill>
                <a:latin typeface="PingFang SC"/>
                <a:ea typeface="PingFang SC"/>
              </a:rPr>
              <a:t>360° 多人专属高光生成系统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D500"/>
                </a:solidFill>
                <a:latin typeface="PingFang SC"/>
                <a:ea typeface="PingFang SC"/>
              </a:rPr>
              <a:t>「 一段全景,人人都是主角 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86200"/>
            <a:ext cx="2926080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197096"/>
            <a:ext cx="64008" cy="64008"/>
          </a:xfrm>
          <a:prstGeom prst="ellips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1148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C9CA6"/>
                </a:solidFill>
                <a:latin typeface="PingFang SC"/>
                <a:ea typeface="PingFang SC"/>
              </a:rPr>
              <a:t>多人物检测与持续跟踪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581144"/>
            <a:ext cx="64008" cy="64008"/>
          </a:xfrm>
          <a:prstGeom prst="ellips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44988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C9CA6"/>
                </a:solidFill>
                <a:latin typeface="PingFang SC"/>
                <a:ea typeface="PingFang SC"/>
              </a:rPr>
              <a:t>精彩事件智能识别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4965192"/>
            <a:ext cx="64008" cy="64008"/>
          </a:xfrm>
          <a:prstGeom prst="ellips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88289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C9CA6"/>
                </a:solidFill>
                <a:latin typeface="PingFang SC"/>
                <a:ea typeface="PingFang SC"/>
              </a:rPr>
              <a:t>一键生成专属合集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148840"/>
            <a:ext cx="4279392" cy="3246120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42832" y="3232403"/>
            <a:ext cx="566928" cy="566928"/>
          </a:xfrm>
          <a:prstGeom prst="ellipse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9144000" y="3396996"/>
            <a:ext cx="219456" cy="237744"/>
          </a:xfrm>
          <a:prstGeom prst="triangl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918204"/>
            <a:ext cx="4096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产品概念视频 · 建议 60s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155948"/>
            <a:ext cx="40965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替换:360° 骑行 / 婚礼现场环绕画面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52760" y="22768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60" y="2290572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D500"/>
                </a:solidFill>
                <a:latin typeface="PingFang SC"/>
                <a:ea typeface="PingFang SC"/>
              </a:rPr>
              <a:t>60s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C66"/>
                </a:solidFill>
                <a:latin typeface="PingFang SC"/>
                <a:ea typeface="PingFang SC"/>
              </a:rPr>
              <a:t>汇报人:XXX    |  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263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50">
                <a:solidFill>
                  <a:srgbClr val="5C5C66"/>
                </a:solidFill>
                <a:latin typeface="PingFang SC"/>
                <a:ea typeface="PingFang SC"/>
              </a:rPr>
              <a:t>PANORAMA MOMENTS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9144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0" b="1" spc="100">
                <a:solidFill>
                  <a:srgbClr val="16161A"/>
                </a:solidFill>
                <a:latin typeface="PingFang SC"/>
                <a:ea typeface="PingFang SC"/>
              </a:rPr>
              <a:t>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85800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5F5F7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1206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68296"/>
            <a:ext cx="91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500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38658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  <a:ea typeface="PingFang SC"/>
              </a:rPr>
              <a:t>产品概述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072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9CA6"/>
                </a:solidFill>
                <a:latin typeface="PingFang SC"/>
                <a:ea typeface="PingFang SC"/>
              </a:rPr>
              <a:t>痛点 · 方案 · 核心价值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624328"/>
            <a:ext cx="128016" cy="18288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1206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68296"/>
            <a:ext cx="91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500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8658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  <a:ea typeface="PingFang SC"/>
              </a:rPr>
              <a:t>用户场景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8072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9CA6"/>
                </a:solidFill>
                <a:latin typeface="PingFang SC"/>
                <a:ea typeface="PingFang SC"/>
              </a:rPr>
              <a:t>五大场景 · 使用旅程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45952" y="2624328"/>
            <a:ext cx="128016" cy="18288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520440"/>
            <a:ext cx="51206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39896"/>
            <a:ext cx="91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500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75818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  <a:ea typeface="PingFang SC"/>
              </a:rPr>
              <a:t>功能演示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1788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9CA6"/>
                </a:solidFill>
                <a:latin typeface="PingFang SC"/>
                <a:ea typeface="PingFang SC"/>
              </a:rPr>
              <a:t>三大功能 · 界面流程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3995928"/>
            <a:ext cx="128016" cy="18288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520440"/>
            <a:ext cx="51206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39896"/>
            <a:ext cx="91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500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75818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  <a:ea typeface="PingFang SC"/>
              </a:rPr>
              <a:t>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1788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9CA6"/>
                </a:solidFill>
                <a:latin typeface="PingFang SC"/>
                <a:ea typeface="PingFang SC"/>
              </a:rPr>
              <a:t>系统架构 · 关键技术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45952" y="3995928"/>
            <a:ext cx="128016" cy="18288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4892040"/>
            <a:ext cx="51206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111496"/>
            <a:ext cx="91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500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129783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  <a:ea typeface="PingFang SC"/>
              </a:rPr>
              <a:t>商业潜力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550407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9CA6"/>
                </a:solidFill>
                <a:latin typeface="PingFang SC"/>
                <a:ea typeface="PingFang SC"/>
              </a:rPr>
              <a:t>市场机会 · 商业模式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5367527"/>
            <a:ext cx="128016" cy="18288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4892040"/>
            <a:ext cx="51206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111496"/>
            <a:ext cx="91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500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129783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  <a:ea typeface="PingFang SC"/>
              </a:rPr>
              <a:t>团队介绍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550407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9CA6"/>
                </a:solidFill>
                <a:latin typeface="PingFang SC"/>
                <a:ea typeface="PingFang SC"/>
              </a:rPr>
              <a:t>成员 · 分工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45952" y="5367527"/>
            <a:ext cx="128016" cy="18288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01 · 产品概述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360° 记录很美好,回看整理是灾难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505456" cy="228600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3113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D500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2743200"/>
            <a:ext cx="45720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87121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素材过长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310128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1 小时全景素材 = 1 小时回看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无人有耐心看完全部画面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011680"/>
            <a:ext cx="2505456" cy="228600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23113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D500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743200"/>
            <a:ext cx="45720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87121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人物难找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310128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360° 画面信息爆炸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在全景里找一个孩子如同大海捞针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011680"/>
            <a:ext cx="2505456" cy="228600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23113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D500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8232" y="2743200"/>
            <a:ext cx="45720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87121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精彩难筛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10128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欢呼、拥抱、冲刺埋在长片中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精彩片段难以被定位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0536" y="2011680"/>
            <a:ext cx="2505456" cy="228600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23113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D500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07424" y="2743200"/>
            <a:ext cx="45720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87121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剪辑耗时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310128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全景重取景 + 多机位剪辑门槛高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专业后期动辄数小时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663440"/>
            <a:ext cx="10545775" cy="1051560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663440"/>
            <a:ext cx="64008" cy="1051560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864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500"/>
                </a:solidFill>
                <a:latin typeface="PingFang SC"/>
                <a:ea typeface="PingFang SC"/>
              </a:rPr>
              <a:t>我们的答案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230368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无需提前决定拍摄主角 —— 一段 360° 视频,为每个人生成专属高光合集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646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20">
                <a:solidFill>
                  <a:srgbClr val="5C5C66"/>
                </a:solidFill>
                <a:latin typeface="PingFang SC"/>
                <a:ea typeface="PingFang SC"/>
              </a:rPr>
              <a:t>PANORAMA MOMENTS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01 · 产品概述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一段视频进,N 个专属合集出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1673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9CA6"/>
                </a:solidFill>
                <a:latin typeface="PingFang SC"/>
                <a:ea typeface="PingFang SC"/>
              </a:rPr>
              <a:t>全景拾光 = AI 时代下的 360° 影像整理引擎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48920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40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500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3113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无需预设主角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拍摄时不用对着某个人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事后为每位参与者各剪一版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55848"/>
            <a:ext cx="48920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387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500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52958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一人一集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8862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自动检测并跟踪每个人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生成个人专属高光合集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54296"/>
            <a:ext cx="4892040" cy="1133856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83717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500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2803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互动不遗漏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18464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保留全体欢呼、拥抱、庆祝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9CA6"/>
                </a:solidFill>
                <a:latin typeface="PingFang SC"/>
                <a:ea typeface="PingFang SC"/>
              </a:rPr>
              <a:t>生成全体互动合集与时间轴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057400"/>
            <a:ext cx="5239512" cy="3310128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62772" y="3172968"/>
            <a:ext cx="566928" cy="566928"/>
          </a:xfrm>
          <a:prstGeom prst="ellipse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8663940" y="3337560"/>
            <a:ext cx="219456" cy="237744"/>
          </a:xfrm>
          <a:prstGeom prst="triangl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858768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产品宣传视频 · 建议 60–90s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96512"/>
            <a:ext cx="50566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替换:App 实际操作录屏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52760" y="21854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2199132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D500"/>
                </a:solidFill>
                <a:latin typeface="PingFang SC"/>
                <a:ea typeface="PingFang SC"/>
              </a:rPr>
              <a:t>90s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5778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D500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段素材 · 一次导入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55778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D500"/>
                </a:solidFill>
                <a:latin typeface="PingFang SC"/>
                <a:ea typeface="PingFang SC"/>
              </a:rPr>
              <a:t>N+1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个合集 · 个人 + 全体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55778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D500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分钟 · 全程自动出片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064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9CA6"/>
                </a:solidFill>
                <a:latin typeface="PingFang SC"/>
                <a:ea typeface="PingFang SC"/>
              </a:rPr>
              <a:t>对比传统人工剪辑:2 小时 → 3 分钟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533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效率提升约 40×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02 · 用户场景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哪里有团聚与热爱,哪里就有全景拾光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130552"/>
            <a:ext cx="1719072" cy="214884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63624" y="2891515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87250" y="2981858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1658721" y="3062691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369564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场景图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607308"/>
            <a:ext cx="1536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16:10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498848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791456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亲子活动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193792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运动会、毕业典礼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不错过孩子的每个瞬间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62656" y="20116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81528" y="2130552"/>
            <a:ext cx="1719072" cy="214884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03320" y="2891515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26946" y="2981858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3798417" y="3062691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2968" y="3369564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场景图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607308"/>
            <a:ext cx="1536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16:10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4498848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4791456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旅行出游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193792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朋友圈旅行大片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人人都有自己的版本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2352" y="20116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21224" y="2130552"/>
            <a:ext cx="1719072" cy="214884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43016" y="2891515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66642" y="2981858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5938113" y="3062691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12664" y="3369564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场景图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3607308"/>
            <a:ext cx="1536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16:10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498848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791456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骑行运动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193792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冲刺、爬坡、过弯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自动生成运动高光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42048" y="20116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60920" y="2130552"/>
            <a:ext cx="1719072" cy="214884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82712" y="2891515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06338" y="2981858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8077809" y="3062691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3369564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场景图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607308"/>
            <a:ext cx="1536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16:10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4498848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4791456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朋友聚会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5193792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生日、露营、跨年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留住每一次欢笑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81744" y="2011680"/>
            <a:ext cx="1956816" cy="3977639"/>
          </a:xfrm>
          <a:prstGeom prst="roundRect">
            <a:avLst>
              <a:gd name="adj" fmla="val 6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500616" y="2130552"/>
            <a:ext cx="1719072" cy="214884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22408" y="2891515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246034" y="2981858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10217505" y="3062691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92056" y="3369564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场景图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92056" y="3607308"/>
            <a:ext cx="1536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16:10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2" y="4498848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2912" y="4791456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婚礼庆典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2" y="5193792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新人、父母、伴郎伴娘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每位主角一集回忆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02 · 用户场景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从拍摄到分享,五步走完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847088" cy="1554480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31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FFD500"/>
                </a:solidFill>
                <a:latin typeface="PingFang SC"/>
                <a:ea typeface="PingFang SC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0545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拍摄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94436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Insta360 全景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自由拍摄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3764" y="260604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2057400"/>
            <a:ext cx="1847088" cy="1554480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7" y="2231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FFD500"/>
                </a:solidFill>
                <a:latin typeface="PingFang SC"/>
                <a:ea typeface="PingFang SC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7" y="250545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导入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7" y="294436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App 一键导入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相机素材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36" y="260604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057400"/>
            <a:ext cx="1847088" cy="1554480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231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FFD500"/>
                </a:solidFill>
                <a:latin typeface="PingFang SC"/>
                <a:ea typeface="PingFang SC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0545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AI 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94436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检测 · 跟踪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事件识别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6307" y="260604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5" y="2057400"/>
            <a:ext cx="1847088" cy="1554480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2231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FFD500"/>
                </a:solidFill>
                <a:latin typeface="PingFang SC"/>
                <a:ea typeface="PingFang SC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250545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选人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94436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点选「我」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或全体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580" y="260604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28048" y="2057400"/>
            <a:ext cx="1847088" cy="1554480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231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50">
                <a:solidFill>
                  <a:srgbClr val="FFD500"/>
                </a:solidFill>
                <a:latin typeface="PingFang SC"/>
                <a:ea typeface="PingFang SC"/>
              </a:rP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50545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  <a:ea typeface="PingFang SC"/>
              </a:rPr>
              <a:t>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94436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合集 / 时间轴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一键分享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97763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PingFang SC"/>
                <a:ea typeface="PingFang SC"/>
              </a:rPr>
              <a:t>传统方式 vs 全景拾光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4074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5C66"/>
                </a:solidFill>
                <a:latin typeface="PingFang SC"/>
                <a:ea typeface="PingFang SC"/>
              </a:rPr>
              <a:t>环节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40740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5C66"/>
                </a:solidFill>
                <a:latin typeface="PingFang SC"/>
                <a:ea typeface="PingFang SC"/>
              </a:rPr>
              <a:t>传统方式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399" y="4407408"/>
            <a:ext cx="3776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5C66"/>
                </a:solidFill>
                <a:latin typeface="PingFang SC"/>
                <a:ea typeface="PingFang SC"/>
              </a:rPr>
              <a:t>全景拾光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681728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77316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5F5F7"/>
                </a:solidFill>
                <a:latin typeface="PingFang SC"/>
                <a:ea typeface="PingFang SC"/>
              </a:rPr>
              <a:t>整理 1 小时素材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77316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人工回看 ≥ 60 分钟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773168"/>
            <a:ext cx="3776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D500"/>
                </a:solidFill>
                <a:latin typeface="PingFang SC"/>
                <a:ea typeface="PingFang SC"/>
              </a:rPr>
              <a:t>AI 分析 ≈ 3 分钟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157216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24865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5F5F7"/>
                </a:solidFill>
                <a:latin typeface="PingFang SC"/>
                <a:ea typeface="PingFang SC"/>
              </a:rPr>
              <a:t>定位某个人的镜头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524865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逐帧拖动寻找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248656"/>
            <a:ext cx="3776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D500"/>
                </a:solidFill>
                <a:latin typeface="PingFang SC"/>
                <a:ea typeface="PingFang SC"/>
              </a:rPr>
              <a:t>点选人物即得全部镜头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63270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72414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5F5F7"/>
                </a:solidFill>
                <a:latin typeface="PingFang SC"/>
                <a:ea typeface="PingFang SC"/>
              </a:rPr>
              <a:t>出片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5724144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剪辑软件 2 小时起步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724144"/>
            <a:ext cx="3776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D500"/>
                </a:solidFill>
                <a:latin typeface="PingFang SC"/>
                <a:ea typeface="PingFang SC"/>
              </a:rPr>
              <a:t>一键生成 3 类成果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03 · 功能演示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三大核心功能,一次看懂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5577840" cy="1225296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57400"/>
            <a:ext cx="54864" cy="1225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1284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D500"/>
                </a:solidFill>
                <a:latin typeface="PingFang SC"/>
                <a:ea typeface="PingFang SC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037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多人物检测 · 跟踪 · 命名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69464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YOLO 检测 + ByteTrack 持续跟踪,人脸聚类关联同一人物;</a:t>
            </a:r>
          </a:p>
          <a:p>
            <a:pPr algn="l">
              <a:lnSpc>
                <a:spcPct val="132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点按头像即可手动命名,生成「人物墙」。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5577840" cy="1225296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447288"/>
            <a:ext cx="54864" cy="1225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60273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D500"/>
                </a:solidFill>
                <a:latin typeface="PingFang SC"/>
                <a:ea typeface="PingFang SC"/>
              </a:rPr>
              <a:t>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935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精彩事件识别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59352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多模态大模型 + 音频分析双通道,识别运动、互动、</a:t>
            </a:r>
          </a:p>
          <a:p>
            <a:pPr algn="l">
              <a:lnSpc>
                <a:spcPct val="132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庆祝、欢笑等高光事件,并给出可解释高光评分。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37176"/>
            <a:ext cx="5577840" cy="1225296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37176"/>
            <a:ext cx="54864" cy="1225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92624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D500"/>
                </a:solidFill>
                <a:latin typeface="PingFang SC"/>
                <a:ea typeface="PingFang SC"/>
              </a:rPr>
              <a:t>F3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83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一键生成三类成果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34924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个人专属合集 / 全体互动合集 / 精彩片段时间轴,</a:t>
            </a:r>
          </a:p>
          <a:p>
            <a:pPr algn="l">
              <a:lnSpc>
                <a:spcPct val="132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自动配乐与转场,直接分享社交平台。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057400"/>
            <a:ext cx="4645152" cy="4023360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59952" y="3529584"/>
            <a:ext cx="566928" cy="566928"/>
          </a:xfrm>
          <a:prstGeom prst="ellipse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8961120" y="3694176"/>
            <a:ext cx="219456" cy="237744"/>
          </a:xfrm>
          <a:prstGeom prst="triangl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421538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功能演示视频 · 建议 90s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4453128"/>
            <a:ext cx="4462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替换:三大功能完整演示录屏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52760" y="21854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52760" y="2199132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D500"/>
                </a:solidFill>
                <a:latin typeface="PingFang SC"/>
                <a:ea typeface="PingFang SC"/>
              </a:rPr>
              <a:t>90s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03 · 功能演示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App 界面一览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1673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9CA6"/>
                </a:solidFill>
                <a:latin typeface="PingFang SC"/>
                <a:ea typeface="PingFang SC"/>
              </a:rPr>
              <a:t>以下为界面截图占位,请替换为实际 UI 截图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759" y="2103120"/>
            <a:ext cx="2212848" cy="3383280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9487" y="2212848"/>
            <a:ext cx="1993391" cy="3163824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8439" y="3481303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12066" y="3571646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1783537" y="3652479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395935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UI 截图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4197096"/>
            <a:ext cx="18105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9:19.5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759" y="5650992"/>
            <a:ext cx="2212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5F5F7"/>
                </a:solidFill>
                <a:latin typeface="PingFang SC"/>
                <a:ea typeface="PingFang SC"/>
              </a:rPr>
              <a:t>1. 素材导入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759" y="594360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相机直连 / 相册导入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471" y="3520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99535" y="2103120"/>
            <a:ext cx="2212848" cy="3383280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09263" y="2212848"/>
            <a:ext cx="1993391" cy="3163824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68215" y="3481303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1842" y="3571646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4563313" y="3652479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0703" y="395935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UI 截图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0703" y="4197096"/>
            <a:ext cx="18105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9:19.5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9535" y="5650992"/>
            <a:ext cx="2212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5F5F7"/>
                </a:solidFill>
                <a:latin typeface="PingFang SC"/>
                <a:ea typeface="PingFang SC"/>
              </a:rPr>
              <a:t>2. 人物墙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9535" y="594360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检测头像 · 手动命名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247" y="3520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9311" y="2103120"/>
            <a:ext cx="2212848" cy="3383280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9039" y="2212848"/>
            <a:ext cx="1993391" cy="3163824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47991" y="3481303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71618" y="3571646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7343089" y="3652479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0479" y="395935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UI 截图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0479" y="4197096"/>
            <a:ext cx="18105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9:19.5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5650992"/>
            <a:ext cx="2212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5F5F7"/>
                </a:solidFill>
                <a:latin typeface="PingFang SC"/>
                <a:ea typeface="PingFang SC"/>
              </a:rPr>
              <a:t>3. 精彩时间轴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9311" y="594360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事件标记 · 类型筛选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7023" y="3520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9087" y="2103120"/>
            <a:ext cx="2212848" cy="3383280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68815" y="2212848"/>
            <a:ext cx="1993391" cy="3163824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27767" y="3481303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51394" y="3571646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10122865" y="3652479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0255" y="395935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UI 截图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0255" y="4197096"/>
            <a:ext cx="18105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9:19.5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9087" y="5650992"/>
            <a:ext cx="2212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5F5F7"/>
                </a:solidFill>
                <a:latin typeface="PingFang SC"/>
                <a:ea typeface="PingFang SC"/>
              </a:rPr>
              <a:t>4. 合集预览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9087" y="594360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一键导出 · 分享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04 · 技术实现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端到端 AI 高光流水线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1673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9CA6"/>
                </a:solidFill>
                <a:latin typeface="PingFang SC"/>
                <a:ea typeface="PingFang SC"/>
              </a:rPr>
              <a:t>感知 → 认知 → 生成,三层架构,全自动运行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572768" cy="1481328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15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D500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89504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5F7"/>
                </a:solidFill>
                <a:latin typeface="PingFang SC"/>
                <a:ea typeface="PingFang SC"/>
              </a:rPr>
              <a:t>360° 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255264"/>
            <a:ext cx="12984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Insta360 SDK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相机直连导入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71800"/>
            <a:ext cx="276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17012" y="2468880"/>
            <a:ext cx="1572768" cy="1481328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3316" y="2615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D500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3316" y="2889504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5F7"/>
                </a:solidFill>
                <a:latin typeface="PingFang SC"/>
                <a:ea typeface="PingFang SC"/>
              </a:rPr>
              <a:t>预处理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3316" y="3255264"/>
            <a:ext cx="12984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等距柱状展开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关键帧采样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492" y="2971800"/>
            <a:ext cx="276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1065" y="2468880"/>
            <a:ext cx="1572768" cy="1481328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7369" y="2615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D500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7369" y="2889504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5F7"/>
                </a:solidFill>
                <a:latin typeface="PingFang SC"/>
                <a:ea typeface="PingFang SC"/>
              </a:rPr>
              <a:t>检测与跟踪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7369" y="3255264"/>
            <a:ext cx="12984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YOLO 目标检测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ByteTrack 多目标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5545" y="2971800"/>
            <a:ext cx="276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118" y="2468880"/>
            <a:ext cx="1572768" cy="1481328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422" y="2615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D500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1422" y="2889504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5F7"/>
                </a:solidFill>
                <a:latin typeface="PingFang SC"/>
                <a:ea typeface="PingFang SC"/>
              </a:rPr>
              <a:t>事件理解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422" y="3255264"/>
            <a:ext cx="12984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多模态大模型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音频情感分析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9598" y="2971800"/>
            <a:ext cx="276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9171" y="2468880"/>
            <a:ext cx="1572768" cy="1481328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5475" y="2615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D500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5475" y="2889504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5F7"/>
                </a:solidFill>
                <a:latin typeface="PingFang SC"/>
                <a:ea typeface="PingFang SC"/>
              </a:rPr>
              <a:t>智能剪辑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5475" y="3255264"/>
            <a:ext cx="12984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高光评分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最佳视角重取景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3651" y="2971800"/>
            <a:ext cx="276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D50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468880"/>
            <a:ext cx="1572768" cy="1481328"/>
          </a:xfrm>
          <a:prstGeom prst="roundRect">
            <a:avLst>
              <a:gd name="adj" fmla="val 9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9528" y="2615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D500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889504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5F7"/>
                </a:solidFill>
                <a:latin typeface="PingFang SC"/>
                <a:ea typeface="PingFang SC"/>
              </a:rPr>
              <a:t>成果输出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3255264"/>
            <a:ext cx="12984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个人/全体合集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FFmpeg 渲染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212848"/>
            <a:ext cx="3366820" cy="914"/>
          </a:xfrm>
          <a:prstGeom prst="rect">
            <a:avLst/>
          </a:prstGeom>
          <a:noFill/>
          <a:ln w="1524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FFD500"/>
                </a:solidFill>
                <a:latin typeface="PingFang SC"/>
                <a:ea typeface="PingFang SC"/>
              </a:rPr>
              <a:t>感知层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11065" y="2212848"/>
            <a:ext cx="3366820" cy="914"/>
          </a:xfrm>
          <a:prstGeom prst="rect">
            <a:avLst/>
          </a:prstGeom>
          <a:noFill/>
          <a:ln w="1524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11065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FFD500"/>
                </a:solidFill>
                <a:latin typeface="PingFang SC"/>
                <a:ea typeface="PingFang SC"/>
              </a:rPr>
              <a:t>认知层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99171" y="2212848"/>
            <a:ext cx="3366820" cy="914"/>
          </a:xfrm>
          <a:prstGeom prst="rect">
            <a:avLst/>
          </a:prstGeom>
          <a:noFill/>
          <a:ln w="1524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99171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FFD500"/>
                </a:solidFill>
                <a:latin typeface="PingFang SC"/>
                <a:ea typeface="PingFang SC"/>
              </a:rPr>
              <a:t>生成层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7"/>
                </a:solidFill>
                <a:latin typeface="PingFang SC"/>
                <a:ea typeface="PingFang SC"/>
              </a:rPr>
              <a:t>核心技术栈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700016"/>
            <a:ext cx="144475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722876"/>
            <a:ext cx="1444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YOLOv8 / v11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32304" y="4700016"/>
            <a:ext cx="1156716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2304" y="4722876"/>
            <a:ext cx="11567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ByteTrack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53612" y="4700016"/>
            <a:ext cx="96469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53612" y="4722876"/>
            <a:ext cx="9646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多模态 LLM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82896" y="4700016"/>
            <a:ext cx="144475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82896" y="4722876"/>
            <a:ext cx="1444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音频分析 librosa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4700016"/>
            <a:ext cx="86868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4722876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FFmpeg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25512" y="4700016"/>
            <a:ext cx="96469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25512" y="4722876"/>
            <a:ext cx="9646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FastAPI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54796" y="4700016"/>
            <a:ext cx="86868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54796" y="4722876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OpenCV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88067" y="4700016"/>
            <a:ext cx="96469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88067" y="4722876"/>
            <a:ext cx="9646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PyTorch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" y="5257800"/>
            <a:ext cx="10545775" cy="868680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3000" y="5440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D500"/>
                </a:solidFill>
                <a:latin typeface="PingFang SC"/>
                <a:ea typeface="PingFang SC"/>
              </a:rPr>
              <a:t>工程亮点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542239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本地端侧推理,隐私不出设备 · 可解释高光评分 · 事件 JSON 统一前后端契约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04 · 技术实现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四项关键技术,支撑三大功能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5193792" cy="192024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585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多目标持续跟踪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6424" y="2624328"/>
            <a:ext cx="41148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52344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ByteTrack 低分检测关联,遮挡、出画再入画不丢 ID;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人脸聚类辅助身份合并,人物关联准确率 ≥ 95%。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56032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>
                <a:solidFill>
                  <a:srgbClr val="FFD500"/>
                </a:solidFill>
                <a:latin typeface="PingFang SC"/>
                <a:ea typeface="PingFang SC"/>
              </a:rPr>
              <a:t>≥95%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063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C5C66"/>
                </a:solidFill>
                <a:latin typeface="PingFang SC"/>
                <a:ea typeface="PingFang SC"/>
              </a:rPr>
              <a:t>ID 保持率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57400"/>
            <a:ext cx="5193792" cy="192024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585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多模态事件识别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2624328"/>
            <a:ext cx="41148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52344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画面 + 音频双通道:动作幅度 × 欢呼/掌声峰值 ×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大模型语义理解,覆盖 8+ 类精彩事件。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256032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>
                <a:solidFill>
                  <a:srgbClr val="FFD500"/>
                </a:solidFill>
                <a:latin typeface="PingFang SC"/>
                <a:ea typeface="PingFang SC"/>
              </a:rPr>
              <a:t>8+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3063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C5C66"/>
                </a:solidFill>
                <a:latin typeface="PingFang SC"/>
                <a:ea typeface="PingFang SC"/>
              </a:rPr>
              <a:t>事件类型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60520"/>
            <a:ext cx="5193792" cy="192024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616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可解释高光评分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" y="4727448"/>
            <a:ext cx="41148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55464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动作幅度、构图、清晰度、情感强度多维加权,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每一分都能说出理由,筛选结果可信可控。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66344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>
                <a:solidFill>
                  <a:srgbClr val="FFD500"/>
                </a:solidFill>
                <a:latin typeface="PingFang SC"/>
                <a:ea typeface="PingFang SC"/>
              </a:rPr>
              <a:t>5 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516636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C5C66"/>
                </a:solidFill>
                <a:latin typeface="PingFang SC"/>
                <a:ea typeface="PingFang SC"/>
              </a:rPr>
              <a:t>评分维度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60520"/>
            <a:ext cx="5193792" cy="192024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616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PingFang SC"/>
                <a:ea typeface="PingFang SC"/>
              </a:rPr>
              <a:t>最佳视角重取景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55664" y="4727448"/>
            <a:ext cx="411480" cy="914"/>
          </a:xfrm>
          <a:prstGeom prst="rect">
            <a:avLst/>
          </a:prstGeom>
          <a:noFill/>
          <a:ln w="19050">
            <a:solidFill>
              <a:srgbClr val="FFD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855464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360° 自由度变成优势:虚拟运镜自动对准主角,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平滑轨迹规划,输出电影感平面视频。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466344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>
                <a:solidFill>
                  <a:srgbClr val="FFD500"/>
                </a:solidFill>
                <a:latin typeface="PingFang SC"/>
                <a:ea typeface="PingFang SC"/>
              </a:rPr>
              <a:t>1080P/4K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5832" y="516636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C5C66"/>
                </a:solidFill>
                <a:latin typeface="PingFang SC"/>
                <a:ea typeface="PingFang SC"/>
              </a:rPr>
              <a:t>输出规格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05 · 商业潜力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一个功能,三种生意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394960" cy="1207008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6771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D500"/>
                </a:solidFill>
                <a:latin typeface="PingFang SC"/>
                <a:ea typeface="PingFang SC"/>
              </a:rPr>
              <a:t>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585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C 端订阅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624327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相机 App 内增值服务:高级模板、更长时长、云空间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¥18/月,面向千万级全景相机用户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5394960" cy="1207008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3931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D500"/>
                </a:solidFill>
                <a:latin typeface="PingFang SC"/>
                <a:ea typeface="PingFang SC"/>
              </a:rPr>
              <a:t>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6301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B 端授权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995928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婚礼摄影机构 / 文旅景区 / 赛事运营方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按项目或年费授权 SaaS 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5394960" cy="1207008"/>
          </a:xfrm>
          <a:prstGeom prst="roundRect">
            <a:avLst>
              <a:gd name="adj" fmla="val 8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501091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D500"/>
                </a:solidFill>
                <a:latin typeface="PingFang SC"/>
                <a:ea typeface="PingFang SC"/>
              </a:rPr>
              <a:t>B3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5F7"/>
                </a:solidFill>
                <a:latin typeface="PingFang SC"/>
                <a:ea typeface="PingFang SC"/>
              </a:rPr>
              <a:t>硬件协同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367528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作为旗舰相机的差异化卖点内置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9C9CA6"/>
                </a:solidFill>
                <a:latin typeface="PingFang SC"/>
                <a:ea typeface="PingFang SC"/>
              </a:rPr>
              <a:t>拉动硬件销量与品牌粘性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103120"/>
            <a:ext cx="4828032" cy="2743200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14232" y="3161263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37858" y="3251606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8809329" y="3332439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639312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市场数据图表占位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877056"/>
            <a:ext cx="46451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建议:全景相机市场规模 / 短视频用户增长曲线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2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500"/>
                </a:solidFill>
                <a:latin typeface="PingFang SC"/>
                <a:ea typeface="PingFang SC"/>
              </a:rPr>
              <a:t>千万级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5046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全球全景相机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用户基数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7492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500"/>
                </a:solidFill>
                <a:latin typeface="PingFang SC"/>
                <a:ea typeface="PingFang SC"/>
              </a:rPr>
              <a:t>10亿+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5046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短视频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月活用户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507492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500"/>
                </a:solidFill>
                <a:latin typeface="PingFang SC"/>
                <a:ea typeface="PingFang SC"/>
              </a:rPr>
              <a:t>40×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55046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剪辑效率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9C9CA6"/>
                </a:solidFill>
                <a:latin typeface="PingFang SC"/>
                <a:ea typeface="PingFang SC"/>
              </a:rPr>
              <a:t>提升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605332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注:数据为公开资料估算,仅供演示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256032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0" b="1">
                <a:solidFill>
                  <a:srgbClr val="16161A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82296" cy="82296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06 · 团队介绍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86384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PingFang SC"/>
                <a:ea typeface="PingFang SC"/>
              </a:rPr>
              <a:t>让每段全景都被重温的人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10545775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2450592" cy="393192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185416"/>
            <a:ext cx="2194560" cy="196596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10512" y="2854939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34138" y="2945282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1905609" y="3026115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3329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成员照片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357073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31596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5F5F7"/>
                </a:solidFill>
                <a:latin typeface="PingFang SC"/>
                <a:ea typeface="PingFang SC"/>
              </a:rPr>
              <a:t>姓名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468172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D500"/>
                </a:solidFill>
                <a:latin typeface="PingFang SC"/>
                <a:ea typeface="PingFang SC"/>
              </a:rPr>
              <a:t>队长 · 算法负责人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" y="5029200"/>
            <a:ext cx="2011680" cy="914"/>
          </a:xfrm>
          <a:prstGeom prst="rect">
            <a:avLst/>
          </a:prstGeom>
          <a:noFill/>
          <a:ln w="9525">
            <a:solidFill>
              <a:srgbClr val="24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5138928"/>
            <a:ext cx="20482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目标检测 / 多目标跟踪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高光评分算法设计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057400"/>
            <a:ext cx="2450592" cy="393192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48456" y="2185416"/>
            <a:ext cx="2194560" cy="196596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7992" y="2854939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31618" y="2945282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4603089" y="3026115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33329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成员照片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357073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9896" y="431596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5F5F7"/>
                </a:solidFill>
                <a:latin typeface="PingFang SC"/>
                <a:ea typeface="PingFang SC"/>
              </a:rPr>
              <a:t>姓名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9896" y="468172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D500"/>
                </a:solidFill>
                <a:latin typeface="PingFang SC"/>
                <a:ea typeface="PingFang SC"/>
              </a:rPr>
              <a:t>工程负责人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39896" y="5029200"/>
            <a:ext cx="2011680" cy="914"/>
          </a:xfrm>
          <a:prstGeom prst="rect">
            <a:avLst/>
          </a:prstGeom>
          <a:noFill/>
          <a:ln w="9525">
            <a:solidFill>
              <a:srgbClr val="24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5138928"/>
            <a:ext cx="20482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相机 SDK 接入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流水线与渲染工程化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057400"/>
            <a:ext cx="2450592" cy="393192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45936" y="2185416"/>
            <a:ext cx="2194560" cy="196596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05472" y="2854939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29098" y="2945282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7300569" y="3026115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3329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成员照片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357073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1:1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31596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5F5F7"/>
                </a:solidFill>
                <a:latin typeface="PingFang SC"/>
                <a:ea typeface="PingFang SC"/>
              </a:rPr>
              <a:t>姓名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468172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D500"/>
                </a:solidFill>
                <a:latin typeface="PingFang SC"/>
                <a:ea typeface="PingFang SC"/>
              </a:rPr>
              <a:t>产品负责人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5029200"/>
            <a:ext cx="2011680" cy="914"/>
          </a:xfrm>
          <a:prstGeom prst="rect">
            <a:avLst/>
          </a:prstGeom>
          <a:noFill/>
          <a:ln w="9525">
            <a:solidFill>
              <a:srgbClr val="24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5138928"/>
            <a:ext cx="20482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场景定义 · 交互设计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商业模式设计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2057400"/>
            <a:ext cx="2450592" cy="3931920"/>
          </a:xfrm>
          <a:prstGeom prst="roundRect">
            <a:avLst>
              <a:gd name="adj" fmla="val 7000"/>
            </a:avLst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43416" y="2185416"/>
            <a:ext cx="2194560" cy="196596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902952" y="2854939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26578" y="2945282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9998049" y="3026115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34856" y="33329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成员照片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4856" y="357073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1:1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4856" y="431596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5F5F7"/>
                </a:solidFill>
                <a:latin typeface="PingFang SC"/>
                <a:ea typeface="PingFang SC"/>
              </a:rPr>
              <a:t>姓名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4856" y="468172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D500"/>
                </a:solidFill>
                <a:latin typeface="PingFang SC"/>
                <a:ea typeface="PingFang SC"/>
              </a:rPr>
              <a:t>视觉与演示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34856" y="5029200"/>
            <a:ext cx="2011680" cy="914"/>
          </a:xfrm>
          <a:prstGeom prst="rect">
            <a:avLst/>
          </a:prstGeom>
          <a:noFill/>
          <a:ln w="9525">
            <a:solidFill>
              <a:srgbClr val="24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34856" y="5138928"/>
            <a:ext cx="20482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品牌视觉 · 视频制作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9C9CA6"/>
                </a:solidFill>
                <a:latin typeface="PingFang SC"/>
                <a:ea typeface="PingFang SC"/>
              </a:rPr>
              <a:t>路演呈现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6455664"/>
            <a:ext cx="10545775" cy="914"/>
          </a:xfrm>
          <a:prstGeom prst="rect">
            <a:avLst/>
          </a:prstGeom>
          <a:noFill/>
          <a:ln w="9525">
            <a:solidFill>
              <a:srgbClr val="1E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5C5C66"/>
                </a:solidFill>
                <a:latin typeface="PingFang SC"/>
                <a:ea typeface="PingFang SC"/>
              </a:rPr>
              <a:t>全景拾光 · PANORAMA MOMENTS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28816"/>
            <a:ext cx="393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C5C66"/>
                </a:solidFill>
                <a:latin typeface="PingFang SC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108960"/>
            <a:ext cx="6583680" cy="6583680"/>
          </a:xfrm>
          <a:prstGeom prst="ellipse">
            <a:avLst/>
          </a:prstGeom>
          <a:noFill/>
          <a:ln w="15240">
            <a:solidFill>
              <a:srgbClr val="242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0" y="5394960"/>
            <a:ext cx="109728" cy="109728"/>
          </a:xfrm>
          <a:prstGeom prst="ellips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20">
                <a:solidFill>
                  <a:srgbClr val="FFD500"/>
                </a:solidFill>
                <a:latin typeface="PingFang SC"/>
                <a:ea typeface="PingFang SC"/>
              </a:rPr>
              <a:t>THANKS FOR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2194560"/>
            <a:ext cx="7772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spc="40">
                <a:solidFill>
                  <a:srgbClr val="F5F5F7"/>
                </a:solidFill>
                <a:latin typeface="PingFang SC"/>
                <a:ea typeface="PingFang SC"/>
              </a:rP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C9CA6"/>
                </a:solidFill>
                <a:latin typeface="PingFang SC"/>
                <a:ea typeface="PingFang SC"/>
              </a:rPr>
              <a:t>全景拾光 · 让每一段 360° 回忆,都值得被重温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069080"/>
            <a:ext cx="2377440" cy="914"/>
          </a:xfrm>
          <a:prstGeom prst="rect">
            <a:avLst/>
          </a:prstGeom>
          <a:noFill/>
          <a:ln w="952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C66"/>
                </a:solidFill>
                <a:latin typeface="PingFang SC"/>
                <a:ea typeface="PingFang SC"/>
              </a:rPr>
              <a:t>联系:team@example.com   |   微信:xxxxxxx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103120"/>
            <a:ext cx="1737360" cy="1737360"/>
          </a:xfrm>
          <a:prstGeom prst="roundRect">
            <a:avLst>
              <a:gd name="adj" fmla="val 5000"/>
            </a:avLst>
          </a:prstGeom>
          <a:solidFill>
            <a:srgbClr val="131317"/>
          </a:solidFill>
          <a:ln w="12700">
            <a:solidFill>
              <a:srgbClr val="2E2E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94976" y="2658343"/>
            <a:ext cx="475488" cy="37088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5C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18602" y="2748686"/>
            <a:ext cx="71323" cy="71323"/>
          </a:xfrm>
          <a:prstGeom prst="ellips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10190073" y="2829519"/>
            <a:ext cx="285292" cy="142646"/>
          </a:xfrm>
          <a:prstGeom prst="triangle">
            <a:avLst/>
          </a:prstGeom>
          <a:solidFill>
            <a:srgbClr val="5C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31363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9CA6"/>
                </a:solidFill>
                <a:latin typeface="PingFang SC"/>
                <a:ea typeface="PingFang SC"/>
              </a:rPr>
              <a:t>二维码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33741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5C66"/>
                </a:solidFill>
                <a:latin typeface="PingFang SC"/>
                <a:ea typeface="PingFang SC"/>
              </a:rPr>
              <a:t>1:1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9502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C5C66"/>
                </a:solidFill>
                <a:latin typeface="PingFang SC"/>
                <a:ea typeface="PingFang SC"/>
              </a:rPr>
              <a:t>扫码观看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6263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50">
                <a:solidFill>
                  <a:srgbClr val="5C5C66"/>
                </a:solidFill>
                <a:latin typeface="PingFang SC"/>
                <a:ea typeface="PingFang SC"/>
              </a:rPr>
              <a:t>PANORAMA MOMENTS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